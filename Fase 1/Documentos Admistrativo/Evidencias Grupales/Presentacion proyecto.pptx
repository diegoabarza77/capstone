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png" ContentType="image/pn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0026" y="3020694"/>
            <a:ext cx="20821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Portafolio</a:t>
            </a:r>
            <a:r>
              <a:rPr dirty="0" sz="1800" spc="-3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de</a:t>
            </a:r>
            <a:r>
              <a:rPr dirty="0" sz="1800" spc="-3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spc="-10" b="1">
                <a:solidFill>
                  <a:srgbClr val="365F91"/>
                </a:solidFill>
                <a:latin typeface="Cambria"/>
                <a:cs typeface="Cambria"/>
              </a:rPr>
              <a:t>Título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1940" y="4261230"/>
            <a:ext cx="5800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“Tag</a:t>
            </a:r>
            <a:r>
              <a:rPr dirty="0" sz="1800" spc="-3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OK</a:t>
            </a:r>
            <a:r>
              <a:rPr dirty="0" sz="18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2.0</a:t>
            </a:r>
            <a:r>
              <a:rPr dirty="0" sz="1800" spc="-2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Gestión,</a:t>
            </a:r>
            <a:r>
              <a:rPr dirty="0" sz="1800" spc="-1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trazabilidad</a:t>
            </a:r>
            <a:r>
              <a:rPr dirty="0" sz="18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y</a:t>
            </a:r>
            <a:r>
              <a:rPr dirty="0" sz="1800" spc="-10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auditoría</a:t>
            </a:r>
            <a:r>
              <a:rPr dirty="0" sz="1800" spc="-25" b="1">
                <a:solidFill>
                  <a:srgbClr val="365F91"/>
                </a:solidFill>
                <a:latin typeface="Cambria"/>
                <a:cs typeface="Cambria"/>
              </a:rPr>
              <a:t> </a:t>
            </a:r>
            <a:r>
              <a:rPr dirty="0" sz="1800" b="1">
                <a:solidFill>
                  <a:srgbClr val="365F91"/>
                </a:solidFill>
                <a:latin typeface="Cambria"/>
                <a:cs typeface="Cambria"/>
              </a:rPr>
              <a:t>de</a:t>
            </a:r>
            <a:r>
              <a:rPr dirty="0" sz="1800" spc="-10" b="1">
                <a:solidFill>
                  <a:srgbClr val="365F91"/>
                </a:solidFill>
                <a:latin typeface="Cambria"/>
                <a:cs typeface="Cambria"/>
              </a:rPr>
              <a:t> gastos”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9192" y="903732"/>
            <a:ext cx="6085205" cy="280670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55"/>
              </a:spcBef>
            </a:pPr>
            <a:r>
              <a:rPr dirty="0" sz="1400" b="1">
                <a:latin typeface="Calibri"/>
                <a:cs typeface="Calibri"/>
              </a:rPr>
              <a:t>“Tag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OK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2.0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Gestión,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trazabilidad </a:t>
            </a:r>
            <a:r>
              <a:rPr dirty="0" sz="1400" b="1">
                <a:latin typeface="Calibri"/>
                <a:cs typeface="Calibri"/>
              </a:rPr>
              <a:t>y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auditoría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de</a:t>
            </a:r>
            <a:r>
              <a:rPr dirty="0" sz="1400" spc="-10" b="1">
                <a:latin typeface="Calibri"/>
                <a:cs typeface="Calibri"/>
              </a:rPr>
              <a:t> gastos”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2532" y="1541017"/>
            <a:ext cx="5978525" cy="6350"/>
          </a:xfrm>
          <a:custGeom>
            <a:avLst/>
            <a:gdLst/>
            <a:ahLst/>
            <a:cxnLst/>
            <a:rect l="l" t="t" r="r" b="b"/>
            <a:pathLst>
              <a:path w="5978525" h="6350">
                <a:moveTo>
                  <a:pt x="5978017" y="0"/>
                </a:moveTo>
                <a:lnTo>
                  <a:pt x="0" y="0"/>
                </a:lnTo>
                <a:lnTo>
                  <a:pt x="0" y="6096"/>
                </a:lnTo>
                <a:lnTo>
                  <a:pt x="5978017" y="6096"/>
                </a:lnTo>
                <a:lnTo>
                  <a:pt x="5978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62532" y="5918581"/>
            <a:ext cx="5978525" cy="6350"/>
          </a:xfrm>
          <a:custGeom>
            <a:avLst/>
            <a:gdLst/>
            <a:ahLst/>
            <a:cxnLst/>
            <a:rect l="l" t="t" r="r" b="b"/>
            <a:pathLst>
              <a:path w="5978525" h="6350">
                <a:moveTo>
                  <a:pt x="5978017" y="0"/>
                </a:moveTo>
                <a:lnTo>
                  <a:pt x="0" y="0"/>
                </a:lnTo>
                <a:lnTo>
                  <a:pt x="0" y="6095"/>
                </a:lnTo>
                <a:lnTo>
                  <a:pt x="5978017" y="6095"/>
                </a:lnTo>
                <a:lnTo>
                  <a:pt x="5978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8120" y="1295145"/>
            <a:ext cx="5968365" cy="7844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Contexto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6900"/>
              </a:lnSpc>
              <a:spcBef>
                <a:spcPts val="1145"/>
              </a:spcBef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proyecto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nace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evolución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original,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idea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>
                <a:latin typeface="Calibri"/>
                <a:cs typeface="Calibri"/>
              </a:rPr>
              <a:t>convertirla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asistente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inteligente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conductor.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Mientras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primera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estaba enfocada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principalmente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gestión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cobro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peajes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mediante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nueva </a:t>
            </a:r>
            <a:r>
              <a:rPr dirty="0" sz="1200">
                <a:latin typeface="Calibri"/>
                <a:cs typeface="Calibri"/>
              </a:rPr>
              <a:t>versión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más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allá,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reuniendo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sola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información,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necesidades relacionadas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algn="just" marL="12700" marR="7620">
              <a:lnSpc>
                <a:spcPct val="117000"/>
              </a:lnSpc>
              <a:spcBef>
                <a:spcPts val="1005"/>
              </a:spcBef>
            </a:pP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novedades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incorporación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</a:t>
            </a:r>
            <a:r>
              <a:rPr dirty="0" sz="1200" spc="-20">
                <a:latin typeface="Calibri"/>
                <a:cs typeface="Calibri"/>
              </a:rPr>
              <a:t> (IA)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información.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lugar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tenga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ingresar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todos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los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manualmente,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 subir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 un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PDF,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 ejemplo,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permiso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circulación,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una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boleta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taller,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ticket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estacionamiento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comprobante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combustible.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capaz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identificar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importante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cargarla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automáticamente</a:t>
            </a:r>
            <a:r>
              <a:rPr dirty="0" sz="1200" spc="-25">
                <a:latin typeface="Calibri"/>
                <a:cs typeface="Calibri"/>
              </a:rPr>
              <a:t> en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sección </a:t>
            </a:r>
            <a:r>
              <a:rPr dirty="0" sz="1200" spc="-10">
                <a:latin typeface="Calibri"/>
                <a:cs typeface="Calibri"/>
              </a:rPr>
              <a:t>correspondiente, </a:t>
            </a:r>
            <a:r>
              <a:rPr dirty="0" sz="1200">
                <a:latin typeface="Calibri"/>
                <a:cs typeface="Calibri"/>
              </a:rPr>
              <a:t>dejando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solo 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tarea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revisar 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confirmar.</a:t>
            </a:r>
            <a:endParaRPr sz="1200">
              <a:latin typeface="Calibri"/>
              <a:cs typeface="Calibri"/>
            </a:endParaRPr>
          </a:p>
          <a:p>
            <a:pPr algn="just" marL="12700" marR="8255">
              <a:lnSpc>
                <a:spcPct val="116700"/>
              </a:lnSpc>
              <a:spcBef>
                <a:spcPts val="1010"/>
              </a:spcBef>
            </a:pP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estará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organizada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cuatro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módulos</a:t>
            </a:r>
            <a:r>
              <a:rPr dirty="0" sz="1200" spc="1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principales: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Vehículo,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Mantenciones, Estacionamientos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Combustible,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además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sección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Beneficios.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manera,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5">
                <a:latin typeface="Calibri"/>
                <a:cs typeface="Calibri"/>
              </a:rPr>
              <a:t> OK</a:t>
            </a:r>
            <a:endParaRPr sz="12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240"/>
              </a:spcBef>
            </a:pP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más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completa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permitiendo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llevar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mejor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  <a:p>
            <a:pPr algn="just" marL="12700" marR="10160">
              <a:lnSpc>
                <a:spcPct val="117200"/>
              </a:lnSpc>
            </a:pP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documentación,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ayudando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anticiparse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futuras necesidades. </a:t>
            </a:r>
            <a:r>
              <a:rPr dirty="0" sz="1200">
                <a:latin typeface="Calibri"/>
                <a:cs typeface="Calibri"/>
              </a:rPr>
              <a:t>Buscando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práctica,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fácil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realmente</a:t>
            </a:r>
            <a:r>
              <a:rPr dirty="0" sz="1200" spc="-10">
                <a:latin typeface="Calibri"/>
                <a:cs typeface="Calibri"/>
              </a:rPr>
              <a:t> simplifique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gestión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diaria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dirty="0" sz="1200" b="1">
                <a:latin typeface="Calibri"/>
                <a:cs typeface="Calibri"/>
              </a:rPr>
              <a:t>Modelo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negocio</a:t>
            </a:r>
            <a:endParaRPr sz="1200">
              <a:latin typeface="Calibri"/>
              <a:cs typeface="Calibri"/>
            </a:endParaRPr>
          </a:p>
          <a:p>
            <a:pPr marL="12700" marR="194310">
              <a:lnSpc>
                <a:spcPct val="116900"/>
              </a:lnSpc>
              <a:spcBef>
                <a:spcPts val="1350"/>
              </a:spcBef>
            </a:pP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orientada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conductores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gestión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el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-10">
                <a:latin typeface="Calibri"/>
                <a:cs typeface="Calibri"/>
              </a:rPr>
              <a:t> documentos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necesidades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relacionadas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 un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vehículo.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La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nace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evolución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versión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anterior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ampliando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sus </a:t>
            </a:r>
            <a:r>
              <a:rPr dirty="0" sz="1200" spc="-10">
                <a:latin typeface="Calibri"/>
                <a:cs typeface="Calibri"/>
              </a:rPr>
              <a:t>funcionalidades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más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centralizada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conductor.</a:t>
            </a:r>
            <a:endParaRPr sz="1200">
              <a:latin typeface="Calibri"/>
              <a:cs typeface="Calibri"/>
            </a:endParaRPr>
          </a:p>
          <a:p>
            <a:pPr marL="12700" marR="171450">
              <a:lnSpc>
                <a:spcPct val="117000"/>
              </a:lnSpc>
              <a:spcBef>
                <a:spcPts val="1210"/>
              </a:spcBef>
            </a:pP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mediante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creación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cuenta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personal.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registrados,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ingresar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datos asociados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ellos,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10">
                <a:latin typeface="Calibri"/>
                <a:cs typeface="Calibri"/>
              </a:rPr>
              <a:t> documentación,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mantenciones,</a:t>
            </a:r>
            <a:r>
              <a:rPr dirty="0" sz="1200">
                <a:latin typeface="Calibri"/>
                <a:cs typeface="Calibri"/>
              </a:rPr>
              <a:t> gastos de </a:t>
            </a:r>
            <a:r>
              <a:rPr dirty="0" sz="1200" spc="-10">
                <a:latin typeface="Calibri"/>
                <a:cs typeface="Calibri"/>
              </a:rPr>
              <a:t>combustible, estacionamientos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otros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relevantes.</a:t>
            </a:r>
            <a:endParaRPr sz="1200">
              <a:latin typeface="Calibri"/>
              <a:cs typeface="Calibri"/>
            </a:endParaRPr>
          </a:p>
          <a:p>
            <a:pPr marL="12700" marR="107314">
              <a:lnSpc>
                <a:spcPct val="117100"/>
              </a:lnSpc>
              <a:spcBef>
                <a:spcPts val="1190"/>
              </a:spcBef>
            </a:pPr>
            <a:r>
              <a:rPr dirty="0" sz="1200">
                <a:latin typeface="Calibri"/>
                <a:cs typeface="Calibri"/>
              </a:rPr>
              <a:t>Uno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objetivos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reducir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cantidad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el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ingresar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manualmente.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esto,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incorporará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herramientas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analizar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PDF,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como </a:t>
            </a:r>
            <a:r>
              <a:rPr dirty="0" sz="1200">
                <a:latin typeface="Calibri"/>
                <a:cs typeface="Calibri"/>
              </a:rPr>
              <a:t>permisos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circulación,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boletas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 talleres,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comprobantes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combustible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tickets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estacionamiento.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identificar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47089"/>
            <a:ext cx="5946140" cy="73602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2885">
              <a:lnSpc>
                <a:spcPct val="1175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relevante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completar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automáticamente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campos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correspondientes,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dejando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la </a:t>
            </a:r>
            <a:r>
              <a:rPr dirty="0" sz="1200">
                <a:latin typeface="Calibri"/>
                <a:cs typeface="Calibri"/>
              </a:rPr>
              <a:t>posibilidad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confirmar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guardarlos.</a:t>
            </a:r>
            <a:endParaRPr sz="1200">
              <a:latin typeface="Calibri"/>
              <a:cs typeface="Calibri"/>
            </a:endParaRPr>
          </a:p>
          <a:p>
            <a:pPr marL="12700" marR="130175">
              <a:lnSpc>
                <a:spcPct val="117500"/>
              </a:lnSpc>
              <a:spcBef>
                <a:spcPts val="1185"/>
              </a:spcBef>
            </a:pP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estará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dividida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diferentes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módulos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administrar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manera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organizada:</a:t>
            </a:r>
            <a:endParaRPr sz="1200">
              <a:latin typeface="Calibri"/>
              <a:cs typeface="Calibri"/>
            </a:endParaRPr>
          </a:p>
          <a:p>
            <a:pPr marL="469265" marR="685165" indent="-228600">
              <a:lnSpc>
                <a:spcPct val="116700"/>
              </a:lnSpc>
              <a:spcBef>
                <a:spcPts val="1200"/>
              </a:spcBef>
              <a:buFont typeface="Calibri"/>
              <a:buChar char="●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Mi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Vehículo: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vehículo, documentación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importantes.</a:t>
            </a:r>
            <a:endParaRPr sz="1200">
              <a:latin typeface="Calibri"/>
              <a:cs typeface="Calibri"/>
            </a:endParaRPr>
          </a:p>
          <a:p>
            <a:pPr marL="469265" marR="249554" indent="-228600">
              <a:lnSpc>
                <a:spcPct val="116700"/>
              </a:lnSpc>
              <a:spcBef>
                <a:spcPts val="15"/>
              </a:spcBef>
              <a:buFont typeface="Calibri"/>
              <a:buChar char="●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Mantenciones: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llevar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realizadas,</a:t>
            </a:r>
            <a:r>
              <a:rPr dirty="0" sz="1200" spc="-10">
                <a:latin typeface="Calibri"/>
                <a:cs typeface="Calibri"/>
              </a:rPr>
              <a:t> registrar </a:t>
            </a:r>
            <a:r>
              <a:rPr dirty="0" sz="1200">
                <a:latin typeface="Calibri"/>
                <a:cs typeface="Calibri"/>
              </a:rPr>
              <a:t>nuevos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próximas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mantenciones.</a:t>
            </a:r>
            <a:endParaRPr sz="1200">
              <a:latin typeface="Calibri"/>
              <a:cs typeface="Calibri"/>
            </a:endParaRPr>
          </a:p>
          <a:p>
            <a:pPr marL="469265" marR="179070" indent="-228600">
              <a:lnSpc>
                <a:spcPts val="1700"/>
              </a:lnSpc>
              <a:spcBef>
                <a:spcPts val="80"/>
              </a:spcBef>
              <a:buFont typeface="Calibri"/>
              <a:buChar char="●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Estacionamientos: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relacionados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estacionamientos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estos.</a:t>
            </a:r>
            <a:endParaRPr sz="12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135"/>
              </a:spcBef>
              <a:buFont typeface="Calibri"/>
              <a:buChar char="●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Combustible: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combustible,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historial</a:t>
            </a:r>
            <a:endParaRPr sz="1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0">
                <a:latin typeface="Calibri"/>
                <a:cs typeface="Calibri"/>
              </a:rPr>
              <a:t> consumo.</a:t>
            </a:r>
            <a:endParaRPr sz="1200">
              <a:latin typeface="Calibri"/>
              <a:cs typeface="Calibri"/>
            </a:endParaRPr>
          </a:p>
          <a:p>
            <a:pPr marL="469265" marR="43815" indent="-228600">
              <a:lnSpc>
                <a:spcPct val="116700"/>
              </a:lnSpc>
              <a:buFont typeface="Calibri"/>
              <a:buChar char="●"/>
              <a:tabLst>
                <a:tab pos="469265" algn="l"/>
              </a:tabLst>
            </a:pPr>
            <a:r>
              <a:rPr dirty="0" sz="1200" b="1">
                <a:latin typeface="Calibri"/>
                <a:cs typeface="Calibri"/>
              </a:rPr>
              <a:t>Beneficios: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mostrar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beneficios,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promociones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descuentos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>
                <a:latin typeface="Calibri"/>
                <a:cs typeface="Calibri"/>
              </a:rPr>
              <a:t>interés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usuarios.</a:t>
            </a:r>
            <a:endParaRPr sz="1200">
              <a:latin typeface="Calibri"/>
              <a:cs typeface="Calibri"/>
            </a:endParaRPr>
          </a:p>
          <a:p>
            <a:pPr marL="12700" marR="200025">
              <a:lnSpc>
                <a:spcPct val="117100"/>
              </a:lnSpc>
              <a:spcBef>
                <a:spcPts val="1205"/>
              </a:spcBef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será</a:t>
            </a:r>
            <a:r>
              <a:rPr dirty="0" sz="1200" spc="-10">
                <a:latin typeface="Calibri"/>
                <a:cs typeface="Calibri"/>
              </a:rPr>
              <a:t> responsable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confirmar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obtenida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mediante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la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almacenarla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manera,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disminuir </a:t>
            </a:r>
            <a:r>
              <a:rPr dirty="0" sz="1200">
                <a:latin typeface="Calibri"/>
                <a:cs typeface="Calibri"/>
              </a:rPr>
              <a:t>posibles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sobre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registrada.</a:t>
            </a:r>
            <a:endParaRPr sz="1200">
              <a:latin typeface="Calibri"/>
              <a:cs typeface="Calibri"/>
            </a:endParaRPr>
          </a:p>
          <a:p>
            <a:pPr marL="12700" marR="173355">
              <a:lnSpc>
                <a:spcPct val="1169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tendrá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público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objetivo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principalmente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propietarios</a:t>
            </a:r>
            <a:r>
              <a:rPr dirty="0" sz="1200" spc="-25">
                <a:latin typeface="Calibri"/>
                <a:cs typeface="Calibri"/>
              </a:rPr>
              <a:t> de </a:t>
            </a:r>
            <a:r>
              <a:rPr dirty="0" sz="1200">
                <a:latin typeface="Calibri"/>
                <a:cs typeface="Calibri"/>
              </a:rPr>
              <a:t>vehículos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busquen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sobre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 spc="-10">
                <a:latin typeface="Calibri"/>
                <a:cs typeface="Calibri"/>
              </a:rPr>
              <a:t>mantenciones </a:t>
            </a:r>
            <a:r>
              <a:rPr dirty="0" sz="1200">
                <a:latin typeface="Calibri"/>
                <a:cs typeface="Calibri"/>
              </a:rPr>
              <a:t>de sus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automóviles.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alternativa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sencilla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para </a:t>
            </a:r>
            <a:r>
              <a:rPr dirty="0" sz="1200">
                <a:latin typeface="Calibri"/>
                <a:cs typeface="Calibri"/>
              </a:rPr>
              <a:t>centralizar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normalmente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encuentra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distribuida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físicos, </a:t>
            </a:r>
            <a:r>
              <a:rPr dirty="0" sz="1200">
                <a:latin typeface="Calibri"/>
                <a:cs typeface="Calibri"/>
              </a:rPr>
              <a:t>correos </a:t>
            </a:r>
            <a:r>
              <a:rPr dirty="0" sz="1200" spc="-10">
                <a:latin typeface="Calibri"/>
                <a:cs typeface="Calibri"/>
              </a:rPr>
              <a:t>electrónicos,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aplicaciones</a:t>
            </a:r>
            <a:r>
              <a:rPr dirty="0" sz="1200">
                <a:latin typeface="Calibri"/>
                <a:cs typeface="Calibri"/>
              </a:rPr>
              <a:t> y registros</a:t>
            </a:r>
            <a:r>
              <a:rPr dirty="0" sz="1200" spc="-10">
                <a:latin typeface="Calibri"/>
                <a:cs typeface="Calibri"/>
              </a:rPr>
              <a:t> personales.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  <a:spcBef>
                <a:spcPts val="1205"/>
              </a:spcBef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negocio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basado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principalmente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</a:t>
            </a:r>
            <a:r>
              <a:rPr dirty="0" sz="1200" spc="-25">
                <a:latin typeface="Calibri"/>
                <a:cs typeface="Calibri"/>
              </a:rPr>
              <a:t> de </a:t>
            </a:r>
            <a:r>
              <a:rPr dirty="0" sz="1200" spc="-10">
                <a:latin typeface="Calibri"/>
                <a:cs typeface="Calibri"/>
              </a:rPr>
              <a:t>funcionalidades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gratuitas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posteriormente,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incorporación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o </a:t>
            </a:r>
            <a:r>
              <a:rPr dirty="0" sz="1200">
                <a:latin typeface="Calibri"/>
                <a:cs typeface="Calibri"/>
              </a:rPr>
              <a:t>beneficios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carácter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premium,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alianzas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empresas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relacionadas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rubro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automotriz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posibles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espacios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promoción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dentro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plataforma.</a:t>
            </a:r>
            <a:endParaRPr sz="1200">
              <a:latin typeface="Calibri"/>
              <a:cs typeface="Calibri"/>
            </a:endParaRPr>
          </a:p>
          <a:p>
            <a:pPr marL="12700" marR="282575">
              <a:lnSpc>
                <a:spcPct val="1169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través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este</a:t>
            </a:r>
            <a:r>
              <a:rPr dirty="0" sz="1200" spc="-10">
                <a:latin typeface="Calibri"/>
                <a:cs typeface="Calibri"/>
              </a:rPr>
              <a:t> modelo,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busca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valor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conductores, entregándoles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10">
                <a:latin typeface="Calibri"/>
                <a:cs typeface="Calibri"/>
              </a:rPr>
              <a:t> herramienta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administración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para </a:t>
            </a:r>
            <a:r>
              <a:rPr dirty="0" sz="1200">
                <a:latin typeface="Calibri"/>
                <a:cs typeface="Calibri"/>
              </a:rPr>
              <a:t>empresas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sector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automotriz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ofrecer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productos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potenciales clientes.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80769" y="1233169"/>
            <a:ext cx="5941695" cy="20320"/>
            <a:chOff x="1080769" y="1233169"/>
            <a:chExt cx="5941695" cy="20320"/>
          </a:xfrm>
        </p:grpSpPr>
        <p:sp>
          <p:nvSpPr>
            <p:cNvPr id="3" name="object 3"/>
            <p:cNvSpPr/>
            <p:nvPr/>
          </p:nvSpPr>
          <p:spPr>
            <a:xfrm>
              <a:off x="1080770" y="1233169"/>
              <a:ext cx="5940425" cy="19685"/>
            </a:xfrm>
            <a:custGeom>
              <a:avLst/>
              <a:gdLst/>
              <a:ahLst/>
              <a:cxnLst/>
              <a:rect l="l" t="t" r="r" b="b"/>
              <a:pathLst>
                <a:path w="5940425" h="19684">
                  <a:moveTo>
                    <a:pt x="5940425" y="0"/>
                  </a:moveTo>
                  <a:lnTo>
                    <a:pt x="5938444" y="0"/>
                  </a:lnTo>
                  <a:lnTo>
                    <a:pt x="3098" y="0"/>
                  </a:lnTo>
                  <a:lnTo>
                    <a:pt x="50" y="0"/>
                  </a:lnTo>
                  <a:lnTo>
                    <a:pt x="0" y="19685"/>
                  </a:lnTo>
                  <a:lnTo>
                    <a:pt x="5940425" y="19685"/>
                  </a:lnTo>
                  <a:lnTo>
                    <a:pt x="594042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019290" y="123316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8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80820" y="1233169"/>
              <a:ext cx="5941695" cy="17145"/>
            </a:xfrm>
            <a:custGeom>
              <a:avLst/>
              <a:gdLst/>
              <a:ahLst/>
              <a:cxnLst/>
              <a:rect l="l" t="t" r="r" b="b"/>
              <a:pathLst>
                <a:path w="5941695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941695" h="17144">
                  <a:moveTo>
                    <a:pt x="5941517" y="0"/>
                  </a:moveTo>
                  <a:lnTo>
                    <a:pt x="5938469" y="0"/>
                  </a:lnTo>
                  <a:lnTo>
                    <a:pt x="5938469" y="3048"/>
                  </a:lnTo>
                  <a:lnTo>
                    <a:pt x="5941517" y="3048"/>
                  </a:lnTo>
                  <a:lnTo>
                    <a:pt x="594151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19290" y="123621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8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8" y="13716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80820" y="12499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80820" y="1249933"/>
              <a:ext cx="5941695" cy="3175"/>
            </a:xfrm>
            <a:custGeom>
              <a:avLst/>
              <a:gdLst/>
              <a:ahLst/>
              <a:cxnLst/>
              <a:rect l="l" t="t" r="r" b="b"/>
              <a:pathLst>
                <a:path w="5941695" h="3175">
                  <a:moveTo>
                    <a:pt x="5938393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938393" y="3048"/>
                  </a:lnTo>
                  <a:lnTo>
                    <a:pt x="5938393" y="0"/>
                  </a:lnTo>
                  <a:close/>
                </a:path>
                <a:path w="5941695" h="3175">
                  <a:moveTo>
                    <a:pt x="5941517" y="0"/>
                  </a:moveTo>
                  <a:lnTo>
                    <a:pt x="5938469" y="0"/>
                  </a:lnTo>
                  <a:lnTo>
                    <a:pt x="5938469" y="3048"/>
                  </a:lnTo>
                  <a:lnTo>
                    <a:pt x="5941517" y="3048"/>
                  </a:lnTo>
                  <a:lnTo>
                    <a:pt x="594151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068120" y="879093"/>
            <a:ext cx="5969635" cy="7739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Problema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6900"/>
              </a:lnSpc>
            </a:pPr>
            <a:r>
              <a:rPr dirty="0" sz="1200">
                <a:latin typeface="Calibri"/>
                <a:cs typeface="Calibri"/>
              </a:rPr>
              <a:t>Actualmente,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llevar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distintos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aspectos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relacionados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sus </a:t>
            </a:r>
            <a:r>
              <a:rPr dirty="0" sz="1200">
                <a:latin typeface="Calibri"/>
                <a:cs typeface="Calibri"/>
              </a:rPr>
              <a:t>vehículos, como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combustible, </a:t>
            </a:r>
            <a:r>
              <a:rPr dirty="0" sz="1200" spc="-10">
                <a:latin typeface="Calibri"/>
                <a:cs typeface="Calibri"/>
              </a:rPr>
              <a:t>estacionamientos,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documentación. </a:t>
            </a:r>
            <a:r>
              <a:rPr dirty="0" sz="1200" spc="-25">
                <a:latin typeface="Calibri"/>
                <a:cs typeface="Calibri"/>
              </a:rPr>
              <a:t>Sin </a:t>
            </a:r>
            <a:r>
              <a:rPr dirty="0" sz="1200">
                <a:latin typeface="Calibri"/>
                <a:cs typeface="Calibri"/>
              </a:rPr>
              <a:t>embargo,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suele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encontrarse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distribuida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diferentes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lugares,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boletas, </a:t>
            </a:r>
            <a:r>
              <a:rPr dirty="0" sz="1200">
                <a:latin typeface="Calibri"/>
                <a:cs typeface="Calibri"/>
              </a:rPr>
              <a:t>tickets,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facturas,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personales,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dificulta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visión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clara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cuánto </a:t>
            </a:r>
            <a:r>
              <a:rPr dirty="0" sz="1200">
                <a:latin typeface="Calibri"/>
                <a:cs typeface="Calibri"/>
              </a:rPr>
              <a:t>cuesta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realmente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algn="just" marL="12700" marR="5715">
              <a:lnSpc>
                <a:spcPct val="117100"/>
              </a:lnSpc>
              <a:spcBef>
                <a:spcPts val="1195"/>
              </a:spcBef>
            </a:pP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esto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suma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2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gran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estos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3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3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registrarse</a:t>
            </a:r>
            <a:r>
              <a:rPr dirty="0" sz="1200" spc="2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manualmente.</a:t>
            </a:r>
            <a:r>
              <a:rPr dirty="0" sz="1200" spc="30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Ingresar </a:t>
            </a:r>
            <a:r>
              <a:rPr dirty="0" sz="1200">
                <a:latin typeface="Calibri"/>
                <a:cs typeface="Calibri"/>
              </a:rPr>
              <a:t>constantemente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boletas,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resultar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tedioso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el </a:t>
            </a:r>
            <a:r>
              <a:rPr dirty="0" sz="1200" spc="-10">
                <a:latin typeface="Calibri"/>
                <a:cs typeface="Calibri"/>
              </a:rPr>
              <a:t>usuario,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provocando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muchas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postergue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simplemente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deje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llevar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registro. </a:t>
            </a:r>
            <a:r>
              <a:rPr dirty="0" sz="1200">
                <a:latin typeface="Calibri"/>
                <a:cs typeface="Calibri"/>
              </a:rPr>
              <a:t>Esto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falta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sobre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también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dificulta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historial </a:t>
            </a:r>
            <a:r>
              <a:rPr dirty="0" sz="1200">
                <a:latin typeface="Calibri"/>
                <a:cs typeface="Calibri"/>
              </a:rPr>
              <a:t>actualizado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algn="just" marL="12700" marR="6985">
              <a:lnSpc>
                <a:spcPct val="117100"/>
              </a:lnSpc>
              <a:spcBef>
                <a:spcPts val="1195"/>
              </a:spcBef>
            </a:pPr>
            <a:r>
              <a:rPr dirty="0" sz="1200">
                <a:latin typeface="Calibri"/>
                <a:cs typeface="Calibri"/>
              </a:rPr>
              <a:t>Otro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problema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importante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corresponde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olvido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documentos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fechas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vencimiento. </a:t>
            </a:r>
            <a:r>
              <a:rPr dirty="0" sz="1200">
                <a:latin typeface="Calibri"/>
                <a:cs typeface="Calibri"/>
              </a:rPr>
              <a:t>Elementos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Permiso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Circulación,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Revisión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Técnica,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SOAP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seguros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cuentan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fechas que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controladas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propietario.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tener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organizada </a:t>
            </a:r>
            <a:r>
              <a:rPr dirty="0" sz="1200">
                <a:latin typeface="Calibri"/>
                <a:cs typeface="Calibri"/>
              </a:rPr>
              <a:t>puede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provocar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multas,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problemas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circular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incluso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pérdida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cobertura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caso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un </a:t>
            </a:r>
            <a:r>
              <a:rPr dirty="0" sz="1200" spc="-10">
                <a:latin typeface="Calibri"/>
                <a:cs typeface="Calibri"/>
              </a:rPr>
              <a:t>accidente.</a:t>
            </a:r>
            <a:endParaRPr sz="1200">
              <a:latin typeface="Calibri"/>
              <a:cs typeface="Calibri"/>
            </a:endParaRPr>
          </a:p>
          <a:p>
            <a:pPr algn="just" marL="12700" marR="6985">
              <a:lnSpc>
                <a:spcPct val="117100"/>
              </a:lnSpc>
              <a:spcBef>
                <a:spcPts val="1195"/>
              </a:spcBef>
            </a:pPr>
            <a:r>
              <a:rPr dirty="0" sz="1200">
                <a:latin typeface="Calibri"/>
                <a:cs typeface="Calibri"/>
              </a:rPr>
              <a:t>También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existe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dificultad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relacionada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1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vehículo.</a:t>
            </a:r>
            <a:r>
              <a:rPr dirty="0" sz="1200" spc="1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Cuando</a:t>
            </a:r>
            <a:r>
              <a:rPr dirty="0" sz="1200" spc="1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se </a:t>
            </a:r>
            <a:r>
              <a:rPr dirty="0" sz="1200">
                <a:latin typeface="Calibri"/>
                <a:cs typeface="Calibri"/>
              </a:rPr>
              <a:t>cuenta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historial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ordenado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reparaciones,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repuestos,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servicios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kilometraje,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resulta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más </a:t>
            </a:r>
            <a:r>
              <a:rPr dirty="0" sz="1200">
                <a:latin typeface="Calibri"/>
                <a:cs typeface="Calibri"/>
              </a:rPr>
              <a:t>difícil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saber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qué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trabajos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realizado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cuándo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corresponde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efectuar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nueva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mantención. </a:t>
            </a:r>
            <a:r>
              <a:rPr dirty="0" sz="1200">
                <a:latin typeface="Calibri"/>
                <a:cs typeface="Calibri"/>
              </a:rPr>
              <a:t>Esto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provocar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algunas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preventivas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olviden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aumentar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 riesgo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reparaciones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más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costosas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futuro.</a:t>
            </a:r>
            <a:endParaRPr sz="1200">
              <a:latin typeface="Calibri"/>
              <a:cs typeface="Calibri"/>
            </a:endParaRPr>
          </a:p>
          <a:p>
            <a:pPr algn="just" marL="12700" marR="7620">
              <a:lnSpc>
                <a:spcPct val="117100"/>
              </a:lnSpc>
              <a:spcBef>
                <a:spcPts val="1190"/>
              </a:spcBef>
            </a:pP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otro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lado,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 versión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inicial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encuentra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enfocada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principalmente</a:t>
            </a:r>
            <a:r>
              <a:rPr dirty="0" sz="1200">
                <a:latin typeface="Calibri"/>
                <a:cs typeface="Calibri"/>
              </a:rPr>
              <a:t> 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gestión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monitoreo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peajes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asociados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TAG.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</a:t>
            </a:r>
            <a:r>
              <a:rPr dirty="0" sz="1200" spc="1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bien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funcionalidad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permite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resolver</a:t>
            </a:r>
            <a:r>
              <a:rPr dirty="0" sz="1200" spc="20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una </a:t>
            </a:r>
            <a:r>
              <a:rPr dirty="0" sz="1200">
                <a:latin typeface="Calibri"/>
                <a:cs typeface="Calibri"/>
              </a:rPr>
              <a:t>necesidad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específica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utilidad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encuentra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limitada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ámbito,</a:t>
            </a:r>
            <a:r>
              <a:rPr dirty="0" sz="1200" spc="-10">
                <a:latin typeface="Calibri"/>
                <a:cs typeface="Calibri"/>
              </a:rPr>
              <a:t> reduciendo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frecuencia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interactúa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dejando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fuera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otros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 spc="-10">
                <a:latin typeface="Calibri"/>
                <a:cs typeface="Calibri"/>
              </a:rPr>
              <a:t>necesidades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cotidiano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0">
                <a:latin typeface="Calibri"/>
                <a:cs typeface="Calibri"/>
              </a:rPr>
              <a:t> vehículo.</a:t>
            </a:r>
            <a:endParaRPr sz="1200">
              <a:latin typeface="Calibri"/>
              <a:cs typeface="Calibri"/>
            </a:endParaRPr>
          </a:p>
          <a:p>
            <a:pPr algn="just" marL="12700" marR="6350">
              <a:lnSpc>
                <a:spcPct val="1171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anterior,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identifica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necesidad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evolucionar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hacia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solución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más </a:t>
            </a:r>
            <a:r>
              <a:rPr dirty="0" sz="1200" spc="-10">
                <a:latin typeface="Calibri"/>
                <a:cs typeface="Calibri"/>
              </a:rPr>
              <a:t>completa,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centralizar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0">
                <a:latin typeface="Calibri"/>
                <a:cs typeface="Calibri"/>
              </a:rPr>
              <a:t> vehículo,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un </a:t>
            </a:r>
            <a:r>
              <a:rPr dirty="0" sz="1200">
                <a:latin typeface="Calibri"/>
                <a:cs typeface="Calibri"/>
              </a:rPr>
              <a:t>historial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vencimientos,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reduciendo</a:t>
            </a:r>
            <a:r>
              <a:rPr dirty="0" sz="1200" spc="-10">
                <a:latin typeface="Calibri"/>
                <a:cs typeface="Calibri"/>
              </a:rPr>
              <a:t> además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trabajo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mediante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uso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extraer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desde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 spc="-10">
                <a:latin typeface="Calibri"/>
                <a:cs typeface="Calibri"/>
              </a:rPr>
              <a:t>documentos.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62532" y="1466341"/>
            <a:ext cx="5978525" cy="6350"/>
          </a:xfrm>
          <a:custGeom>
            <a:avLst/>
            <a:gdLst/>
            <a:ahLst/>
            <a:cxnLst/>
            <a:rect l="l" t="t" r="r" b="b"/>
            <a:pathLst>
              <a:path w="5978525" h="6350">
                <a:moveTo>
                  <a:pt x="5978017" y="0"/>
                </a:moveTo>
                <a:lnTo>
                  <a:pt x="0" y="0"/>
                </a:lnTo>
                <a:lnTo>
                  <a:pt x="0" y="6096"/>
                </a:lnTo>
                <a:lnTo>
                  <a:pt x="5978017" y="6096"/>
                </a:lnTo>
                <a:lnTo>
                  <a:pt x="5978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68120" y="1220469"/>
            <a:ext cx="5964555" cy="3404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Solución</a:t>
            </a:r>
            <a:endParaRPr sz="1200">
              <a:latin typeface="Calibri"/>
              <a:cs typeface="Calibri"/>
            </a:endParaRPr>
          </a:p>
          <a:p>
            <a:pPr algn="just" marL="12700" marR="6350">
              <a:lnSpc>
                <a:spcPct val="117100"/>
              </a:lnSpc>
              <a:spcBef>
                <a:spcPts val="1350"/>
              </a:spcBef>
            </a:pPr>
            <a:r>
              <a:rPr dirty="0" sz="1200">
                <a:latin typeface="Calibri"/>
                <a:cs typeface="Calibri"/>
              </a:rPr>
              <a:t>Tomando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consideración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problemas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identificados,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solución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propuesta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2.0 </a:t>
            </a:r>
            <a:r>
              <a:rPr dirty="0" sz="1200">
                <a:latin typeface="Calibri"/>
                <a:cs typeface="Calibri"/>
              </a:rPr>
              <a:t>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desarrollar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 aplicación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 que permite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centralizar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solo lugar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 información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los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asociados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algn="just" marL="12700" marR="6985">
              <a:lnSpc>
                <a:spcPct val="117100"/>
              </a:lnSpc>
              <a:spcBef>
                <a:spcPts val="1190"/>
              </a:spcBef>
            </a:pP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sobre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mantenciones,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combustible, </a:t>
            </a:r>
            <a:r>
              <a:rPr dirty="0" sz="1200">
                <a:latin typeface="Calibri"/>
                <a:cs typeface="Calibri"/>
              </a:rPr>
              <a:t>estacionamientos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documentación,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además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contar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sección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beneficios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los </a:t>
            </a:r>
            <a:r>
              <a:rPr dirty="0" sz="1200" spc="-10">
                <a:latin typeface="Calibri"/>
                <a:cs typeface="Calibri"/>
              </a:rPr>
              <a:t>usuarios.</a:t>
            </a:r>
            <a:endParaRPr sz="1200">
              <a:latin typeface="Calibri"/>
              <a:cs typeface="Calibri"/>
            </a:endParaRPr>
          </a:p>
          <a:p>
            <a:pPr algn="just" marL="12700" marR="6350">
              <a:lnSpc>
                <a:spcPct val="1171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incorporará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Artificial, que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extraer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 </a:t>
            </a:r>
            <a:r>
              <a:rPr dirty="0" sz="1200">
                <a:latin typeface="Calibri"/>
                <a:cs typeface="Calibri"/>
              </a:rPr>
              <a:t>desde fotografías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documentos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PDF,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 boletas,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tickets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comprobantes,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dejando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 </a:t>
            </a:r>
            <a:r>
              <a:rPr dirty="0" sz="1200" spc="-10">
                <a:latin typeface="Calibri"/>
                <a:cs typeface="Calibri"/>
              </a:rPr>
              <a:t>datos </a:t>
            </a:r>
            <a:r>
              <a:rPr dirty="0" sz="1200">
                <a:latin typeface="Calibri"/>
                <a:cs typeface="Calibri"/>
              </a:rPr>
              <a:t>precargados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solo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revisarlos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confirmarlos.</a:t>
            </a:r>
            <a:endParaRPr sz="1200">
              <a:latin typeface="Calibri"/>
              <a:cs typeface="Calibri"/>
            </a:endParaRPr>
          </a:p>
          <a:p>
            <a:pPr algn="just" marL="12700" marR="5080">
              <a:lnSpc>
                <a:spcPct val="117100"/>
              </a:lnSpc>
              <a:spcBef>
                <a:spcPts val="1195"/>
              </a:spcBef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propósito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OK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2.0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simplificar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gestión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diaria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reducir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manual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entregar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mayor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sobre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mantenciones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documentación, evolucionando</a:t>
            </a:r>
            <a:r>
              <a:rPr dirty="0" sz="1200">
                <a:latin typeface="Calibri"/>
                <a:cs typeface="Calibri"/>
              </a:rPr>
              <a:t> así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versión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inicial enfocada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principalmente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peajes.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2532" y="5371464"/>
            <a:ext cx="5978525" cy="6350"/>
          </a:xfrm>
          <a:custGeom>
            <a:avLst/>
            <a:gdLst/>
            <a:ahLst/>
            <a:cxnLst/>
            <a:rect l="l" t="t" r="r" b="b"/>
            <a:pathLst>
              <a:path w="5978525" h="6350">
                <a:moveTo>
                  <a:pt x="5978017" y="0"/>
                </a:moveTo>
                <a:lnTo>
                  <a:pt x="0" y="0"/>
                </a:lnTo>
                <a:lnTo>
                  <a:pt x="0" y="6096"/>
                </a:lnTo>
                <a:lnTo>
                  <a:pt x="5978017" y="6096"/>
                </a:lnTo>
                <a:lnTo>
                  <a:pt x="59780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8120" y="5124069"/>
            <a:ext cx="5824855" cy="4017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Funcionalidades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del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producto.</a:t>
            </a:r>
            <a:endParaRPr sz="1200">
              <a:latin typeface="Calibri"/>
              <a:cs typeface="Calibri"/>
            </a:endParaRPr>
          </a:p>
          <a:p>
            <a:pPr marL="469265" marR="213995" indent="-228600">
              <a:lnSpc>
                <a:spcPct val="116700"/>
              </a:lnSpc>
              <a:spcBef>
                <a:spcPts val="1365"/>
              </a:spcBef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Todos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autenticarse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electrónico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contraseña.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olvidar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contraseña,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realizar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recuperación.</a:t>
            </a:r>
            <a:endParaRPr sz="1200">
              <a:latin typeface="Calibri"/>
              <a:cs typeface="Calibri"/>
            </a:endParaRPr>
          </a:p>
          <a:p>
            <a:pPr marL="469265" marR="194310" indent="-228600">
              <a:lnSpc>
                <a:spcPts val="1689"/>
              </a:lnSpc>
              <a:spcBef>
                <a:spcPts val="90"/>
              </a:spcBef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cuenta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ingresando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personales,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nombre,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electrónico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teléfono.</a:t>
            </a:r>
            <a:endParaRPr sz="1200">
              <a:latin typeface="Calibri"/>
              <a:cs typeface="Calibri"/>
            </a:endParaRPr>
          </a:p>
          <a:p>
            <a:pPr marL="469265" marR="5080" indent="-228600">
              <a:lnSpc>
                <a:spcPts val="1680"/>
              </a:lnSpc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más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vehículos,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ingresando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patente, </a:t>
            </a:r>
            <a:r>
              <a:rPr dirty="0" sz="1200">
                <a:latin typeface="Calibri"/>
                <a:cs typeface="Calibri"/>
              </a:rPr>
              <a:t>marca,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modelo,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año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kilometraje.</a:t>
            </a:r>
            <a:endParaRPr sz="1200">
              <a:latin typeface="Calibri"/>
              <a:cs typeface="Calibri"/>
            </a:endParaRPr>
          </a:p>
          <a:p>
            <a:pPr marL="469900" indent="-229235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699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visualizar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actualizar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registrados.</a:t>
            </a:r>
            <a:endParaRPr sz="1200">
              <a:latin typeface="Calibri"/>
              <a:cs typeface="Calibri"/>
            </a:endParaRPr>
          </a:p>
          <a:p>
            <a:pPr marL="469265" marR="488315" indent="-228600">
              <a:lnSpc>
                <a:spcPts val="1689"/>
              </a:lnSpc>
              <a:spcBef>
                <a:spcPts val="90"/>
              </a:spcBef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relacionados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 </a:t>
            </a:r>
            <a:r>
              <a:rPr dirty="0" sz="1200" spc="-10" b="1">
                <a:latin typeface="Calibri"/>
                <a:cs typeface="Calibri"/>
              </a:rPr>
              <a:t>combustible</a:t>
            </a:r>
            <a:r>
              <a:rPr dirty="0" sz="1200" spc="-10">
                <a:latin typeface="Calibri"/>
                <a:cs typeface="Calibri"/>
              </a:rPr>
              <a:t>, </a:t>
            </a:r>
            <a:r>
              <a:rPr dirty="0" sz="1200">
                <a:latin typeface="Calibri"/>
                <a:cs typeface="Calibri"/>
              </a:rPr>
              <a:t>incluyendo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fecha,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monto,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cantidad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kilometraje.</a:t>
            </a:r>
            <a:endParaRPr sz="1200">
              <a:latin typeface="Calibri"/>
              <a:cs typeface="Calibri"/>
            </a:endParaRPr>
          </a:p>
          <a:p>
            <a:pPr marL="469265" marR="185420" indent="-228600">
              <a:lnSpc>
                <a:spcPts val="1680"/>
              </a:lnSpc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estacionamiento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incluyendo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fecha, </a:t>
            </a:r>
            <a:r>
              <a:rPr dirty="0" sz="1200">
                <a:latin typeface="Calibri"/>
                <a:cs typeface="Calibri"/>
              </a:rPr>
              <a:t>lugar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pagado.</a:t>
            </a:r>
            <a:endParaRPr sz="1200">
              <a:latin typeface="Calibri"/>
              <a:cs typeface="Calibri"/>
            </a:endParaRPr>
          </a:p>
          <a:p>
            <a:pPr marL="469265" marR="408305" indent="-228600">
              <a:lnSpc>
                <a:spcPts val="1680"/>
              </a:lnSpc>
              <a:spcBef>
                <a:spcPts val="15"/>
              </a:spcBef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 </a:t>
            </a:r>
            <a:r>
              <a:rPr dirty="0" sz="1200" b="1">
                <a:latin typeface="Calibri"/>
                <a:cs typeface="Calibri"/>
              </a:rPr>
              <a:t>mantenciones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realizadas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vehículo, </a:t>
            </a:r>
            <a:r>
              <a:rPr dirty="0" sz="1200">
                <a:latin typeface="Calibri"/>
                <a:cs typeface="Calibri"/>
              </a:rPr>
              <a:t>incluyendo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fecha,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kilometraje,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tipo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costo.</a:t>
            </a:r>
            <a:endParaRPr sz="1200">
              <a:latin typeface="Calibri"/>
              <a:cs typeface="Calibri"/>
            </a:endParaRPr>
          </a:p>
          <a:p>
            <a:pPr marL="469265" marR="97155" indent="-228600">
              <a:lnSpc>
                <a:spcPts val="1680"/>
              </a:lnSpc>
              <a:spcBef>
                <a:spcPts val="10"/>
              </a:spcBef>
              <a:buAutoNum type="arabicPeriod"/>
              <a:tabLst>
                <a:tab pos="469265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consultar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asociada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como </a:t>
            </a:r>
            <a:r>
              <a:rPr dirty="0" sz="1200">
                <a:latin typeface="Calibri"/>
                <a:cs typeface="Calibri"/>
              </a:rPr>
              <a:t>Permiso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Circulación,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Revisión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Técnica,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SOAP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automotriz,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junto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sus </a:t>
            </a:r>
            <a:r>
              <a:rPr dirty="0" sz="1200">
                <a:latin typeface="Calibri"/>
                <a:cs typeface="Calibri"/>
              </a:rPr>
              <a:t>fechas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vencimiento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6669" y="847089"/>
            <a:ext cx="5621655" cy="4520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7500"/>
              </a:lnSpc>
              <a:spcBef>
                <a:spcPts val="100"/>
              </a:spcBef>
              <a:buAutoNum type="arabicPeriod" startAt="9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avisos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recordatorios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relacionados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vencimiento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>
                <a:latin typeface="Calibri"/>
                <a:cs typeface="Calibri"/>
              </a:rPr>
              <a:t> 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próximas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marL="240029" marR="548640" indent="-227329">
              <a:lnSpc>
                <a:spcPts val="1689"/>
              </a:lnSpc>
              <a:spcBef>
                <a:spcPts val="85"/>
              </a:spcBef>
              <a:buAutoNum type="arabicPeriod" startAt="9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PDF,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boletas,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tickets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 spc="-5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comprobantes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relacionados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vehículo.</a:t>
            </a:r>
            <a:endParaRPr sz="1200">
              <a:latin typeface="Calibri"/>
              <a:cs typeface="Calibri"/>
            </a:endParaRPr>
          </a:p>
          <a:p>
            <a:pPr marL="240029" marR="72390" indent="-227329">
              <a:lnSpc>
                <a:spcPts val="1680"/>
              </a:lnSpc>
              <a:buAutoNum type="arabicPeriod" startAt="9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utilizará </a:t>
            </a:r>
            <a:r>
              <a:rPr dirty="0" sz="1200" spc="-10" b="1">
                <a:latin typeface="Calibri"/>
                <a:cs typeface="Calibri"/>
              </a:rPr>
              <a:t>Inteligencia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Artificial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extraer</a:t>
            </a:r>
            <a:r>
              <a:rPr dirty="0" sz="1200" spc="-10">
                <a:latin typeface="Calibri"/>
                <a:cs typeface="Calibri"/>
              </a:rPr>
              <a:t> información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relevante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desde</a:t>
            </a:r>
            <a:r>
              <a:rPr dirty="0" sz="1200" spc="-25">
                <a:latin typeface="Calibri"/>
                <a:cs typeface="Calibri"/>
              </a:rPr>
              <a:t> las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cargados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precargarla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módulo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correspondiente.</a:t>
            </a:r>
            <a:endParaRPr sz="1200">
              <a:latin typeface="Calibri"/>
              <a:cs typeface="Calibri"/>
            </a:endParaRPr>
          </a:p>
          <a:p>
            <a:pPr marL="240029" marR="38735" indent="-227329">
              <a:lnSpc>
                <a:spcPts val="1680"/>
              </a:lnSpc>
              <a:spcBef>
                <a:spcPts val="15"/>
              </a:spcBef>
              <a:buAutoNum type="arabicPeriod" startAt="9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revisar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confirmar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obtenida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Inteligencia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Artificial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almacenarla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definitivamente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sistema.</a:t>
            </a:r>
            <a:endParaRPr sz="12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45"/>
              </a:spcBef>
              <a:buAutoNum type="arabicPeriod" startAt="9"/>
              <a:tabLst>
                <a:tab pos="240029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mantenciones,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combustible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estacionamientos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registrados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usuario.</a:t>
            </a:r>
            <a:endParaRPr sz="1200">
              <a:latin typeface="Calibri"/>
              <a:cs typeface="Calibri"/>
            </a:endParaRPr>
          </a:p>
          <a:p>
            <a:pPr marL="240029" marR="441325" indent="-227329">
              <a:lnSpc>
                <a:spcPts val="1689"/>
              </a:lnSpc>
              <a:spcBef>
                <a:spcPts val="90"/>
              </a:spcBef>
              <a:buAutoNum type="arabicPeriod" startAt="14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permitirá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visualizar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resumen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principales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asociados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al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vehículo,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facilitando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costos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mensuales.</a:t>
            </a:r>
            <a:endParaRPr sz="1200">
              <a:latin typeface="Calibri"/>
              <a:cs typeface="Calibri"/>
            </a:endParaRPr>
          </a:p>
          <a:p>
            <a:pPr marL="240029" marR="454659" indent="-227329">
              <a:lnSpc>
                <a:spcPts val="1680"/>
              </a:lnSpc>
              <a:buAutoNum type="arabicPeriod" startAt="14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módulo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 </a:t>
            </a:r>
            <a:r>
              <a:rPr dirty="0" sz="1200" b="1">
                <a:latin typeface="Calibri"/>
                <a:cs typeface="Calibri"/>
              </a:rPr>
              <a:t>Beneficios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podrá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visualizar 	promociones,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descuentos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beneficios</a:t>
            </a:r>
            <a:r>
              <a:rPr dirty="0" sz="1200" spc="-10">
                <a:latin typeface="Calibri"/>
                <a:cs typeface="Calibri"/>
              </a:rPr>
              <a:t> relacionados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servicios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automotrices.</a:t>
            </a:r>
            <a:endParaRPr sz="1200">
              <a:latin typeface="Calibri"/>
              <a:cs typeface="Calibri"/>
            </a:endParaRPr>
          </a:p>
          <a:p>
            <a:pPr marL="240029" marR="41910" indent="-227329">
              <a:lnSpc>
                <a:spcPts val="1680"/>
              </a:lnSpc>
              <a:spcBef>
                <a:spcPts val="15"/>
              </a:spcBef>
              <a:buAutoNum type="arabicPeriod" startAt="14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mantener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forma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independiente,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evitando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acceder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perteneciente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55"/>
              </a:spcBef>
            </a:pPr>
            <a:r>
              <a:rPr dirty="0" sz="1200" spc="-10">
                <a:latin typeface="Calibri"/>
                <a:cs typeface="Calibri"/>
              </a:rPr>
              <a:t>otro.</a:t>
            </a:r>
            <a:endParaRPr sz="1200">
              <a:latin typeface="Calibri"/>
              <a:cs typeface="Calibri"/>
            </a:endParaRPr>
          </a:p>
          <a:p>
            <a:pPr marL="240029" marR="278130" indent="-227329">
              <a:lnSpc>
                <a:spcPct val="116700"/>
              </a:lnSpc>
              <a:buAutoNum type="arabicPeriod" startAt="17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elimine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modifique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ingresados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anteriormente,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manteniendo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actualizado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vehículo.</a:t>
            </a:r>
            <a:endParaRPr sz="1200">
              <a:latin typeface="Calibri"/>
              <a:cs typeface="Calibri"/>
            </a:endParaRPr>
          </a:p>
          <a:p>
            <a:pPr marL="240029" marR="155575" indent="-227329">
              <a:lnSpc>
                <a:spcPct val="116799"/>
              </a:lnSpc>
              <a:spcBef>
                <a:spcPts val="10"/>
              </a:spcBef>
              <a:buAutoNum type="arabicPeriod" startAt="17"/>
              <a:tabLst>
                <a:tab pos="241300" algn="l"/>
              </a:tabLst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deberá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conservar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información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pueda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consultarla</a:t>
            </a:r>
            <a:r>
              <a:rPr dirty="0" sz="1200" spc="-10">
                <a:latin typeface="Calibri"/>
                <a:cs typeface="Calibri"/>
              </a:rPr>
              <a:t> posteriormente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desde 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9093"/>
            <a:ext cx="8775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Casos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1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uso.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37485" y="2953842"/>
            <a:ext cx="278130" cy="187960"/>
          </a:xfrm>
          <a:custGeom>
            <a:avLst/>
            <a:gdLst/>
            <a:ahLst/>
            <a:cxnLst/>
            <a:rect l="l" t="t" r="r" b="b"/>
            <a:pathLst>
              <a:path w="278130" h="187960">
                <a:moveTo>
                  <a:pt x="277672" y="0"/>
                </a:moveTo>
                <a:lnTo>
                  <a:pt x="0" y="0"/>
                </a:lnTo>
                <a:lnTo>
                  <a:pt x="0" y="187756"/>
                </a:lnTo>
                <a:lnTo>
                  <a:pt x="277672" y="187756"/>
                </a:lnTo>
                <a:lnTo>
                  <a:pt x="277672" y="0"/>
                </a:lnTo>
                <a:close/>
              </a:path>
            </a:pathLst>
          </a:custGeom>
          <a:solidFill>
            <a:srgbClr val="F1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237485" y="4673219"/>
            <a:ext cx="278130" cy="186055"/>
          </a:xfrm>
          <a:custGeom>
            <a:avLst/>
            <a:gdLst/>
            <a:ahLst/>
            <a:cxnLst/>
            <a:rect l="l" t="t" r="r" b="b"/>
            <a:pathLst>
              <a:path w="278130" h="186054">
                <a:moveTo>
                  <a:pt x="277672" y="0"/>
                </a:moveTo>
                <a:lnTo>
                  <a:pt x="0" y="0"/>
                </a:lnTo>
                <a:lnTo>
                  <a:pt x="0" y="185927"/>
                </a:lnTo>
                <a:lnTo>
                  <a:pt x="277672" y="185927"/>
                </a:lnTo>
                <a:lnTo>
                  <a:pt x="277672" y="0"/>
                </a:lnTo>
                <a:close/>
              </a:path>
            </a:pathLst>
          </a:custGeom>
          <a:solidFill>
            <a:srgbClr val="F1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84729" y="6334633"/>
            <a:ext cx="230504" cy="186055"/>
          </a:xfrm>
          <a:custGeom>
            <a:avLst/>
            <a:gdLst/>
            <a:ahLst/>
            <a:cxnLst/>
            <a:rect l="l" t="t" r="r" b="b"/>
            <a:pathLst>
              <a:path w="230505" h="186054">
                <a:moveTo>
                  <a:pt x="230428" y="0"/>
                </a:moveTo>
                <a:lnTo>
                  <a:pt x="0" y="0"/>
                </a:lnTo>
                <a:lnTo>
                  <a:pt x="0" y="185927"/>
                </a:lnTo>
                <a:lnTo>
                  <a:pt x="230428" y="185927"/>
                </a:lnTo>
                <a:lnTo>
                  <a:pt x="230428" y="0"/>
                </a:lnTo>
                <a:close/>
              </a:path>
            </a:pathLst>
          </a:custGeom>
          <a:solidFill>
            <a:srgbClr val="F1EFE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80820" y="1455673"/>
          <a:ext cx="5659755" cy="6954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894080">
                <a:tc>
                  <a:txBody>
                    <a:bodyPr/>
                    <a:lstStyle/>
                    <a:p>
                      <a:pPr marL="114300" marR="106680">
                        <a:lnSpc>
                          <a:spcPct val="116700"/>
                        </a:lnSpc>
                        <a:spcBef>
                          <a:spcPts val="335"/>
                        </a:spcBef>
                      </a:pPr>
                      <a:r>
                        <a:rPr dirty="0" sz="12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1200" spc="1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2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Caso</a:t>
                      </a:r>
                      <a:r>
                        <a:rPr dirty="0" sz="1200" spc="14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 Uso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Descripción</a:t>
                      </a:r>
                      <a:r>
                        <a:rPr dirty="0" sz="1200" spc="1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1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trazabilidad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 marR="601980">
                        <a:lnSpc>
                          <a:spcPct val="116700"/>
                        </a:lnSpc>
                        <a:spcBef>
                          <a:spcPts val="335"/>
                        </a:spcBef>
                      </a:pPr>
                      <a:r>
                        <a:rPr dirty="0" sz="1200" spc="-1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Actores involucrados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71767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Autenticarse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3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Crear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cuenta</a:t>
                      </a: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sea</a:t>
                      </a: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registrarse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16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7314">
                        <a:lnSpc>
                          <a:spcPct val="117500"/>
                        </a:lnSpc>
                        <a:spcBef>
                          <a:spcPts val="32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200" spc="8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vehículo</a:t>
                      </a:r>
                      <a:r>
                        <a:rPr dirty="0" sz="1200" spc="7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(patente,</a:t>
                      </a:r>
                      <a:r>
                        <a:rPr dirty="0" sz="1200" spc="7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marca,</a:t>
                      </a:r>
                      <a:r>
                        <a:rPr dirty="0" sz="1200" spc="7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modelo, etc.)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127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 spc="-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gestionar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ficha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del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vehículo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RF-4</a:t>
                      </a:r>
                      <a:r>
                        <a:rPr dirty="0" sz="1200" spc="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80820" y="899159"/>
          <a:ext cx="5659755" cy="7240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6680">
                        <a:lnSpc>
                          <a:spcPct val="116700"/>
                        </a:lnSpc>
                        <a:spcBef>
                          <a:spcPts val="350"/>
                        </a:spcBef>
                        <a:tabLst>
                          <a:tab pos="933450" algn="l"/>
                          <a:tab pos="1267460" algn="l"/>
                          <a:tab pos="2111375" algn="l"/>
                        </a:tabLst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documentos vehiculares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9855">
                        <a:lnSpc>
                          <a:spcPct val="1167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 spc="49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estado</a:t>
                      </a:r>
                      <a:r>
                        <a:rPr dirty="0" sz="1200" spc="49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general</a:t>
                      </a:r>
                      <a:r>
                        <a:rPr dirty="0" sz="1200" spc="1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49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vencimientos legales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mantención</a:t>
                      </a:r>
                      <a:r>
                        <a:rPr dirty="0" sz="1200" spc="-3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vehículo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RF-7</a:t>
                      </a:r>
                      <a:r>
                        <a:rPr dirty="0" sz="1200" spc="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200" spc="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Mantenciones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Historial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90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5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8585">
                        <a:lnSpc>
                          <a:spcPct val="116700"/>
                        </a:lnSpc>
                        <a:spcBef>
                          <a:spcPts val="34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Programar próxima mantención</a:t>
                      </a:r>
                      <a:r>
                        <a:rPr dirty="0" sz="1200" spc="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configurar recordatorios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80820" y="899160"/>
          <a:ext cx="5659755" cy="7135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Registro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Estacionamientos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RF-10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Generar</a:t>
                      </a:r>
                      <a:r>
                        <a:rPr dirty="0" sz="1200" spc="-4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Cronómetro</a:t>
                      </a:r>
                      <a:r>
                        <a:rPr dirty="0" sz="1200" spc="-3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3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ubicación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GPS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(IA)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7950">
                        <a:lnSpc>
                          <a:spcPct val="116700"/>
                        </a:lnSpc>
                        <a:spcBef>
                          <a:spcPts val="345"/>
                        </a:spcBef>
                        <a:tabLst>
                          <a:tab pos="967740" algn="l"/>
                          <a:tab pos="1734185" algn="l"/>
                          <a:tab pos="2067560" algn="l"/>
                          <a:tab pos="2727325" algn="l"/>
                        </a:tabLst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historial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gastos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estacionamientos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RF-6</a:t>
                      </a:r>
                      <a:r>
                        <a:rPr dirty="0" sz="1200" spc="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34429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Combustible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carga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RF-5</a:t>
                      </a:r>
                      <a:r>
                        <a:rPr dirty="0" sz="1200" spc="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1200" spc="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107950">
                        <a:lnSpc>
                          <a:spcPct val="116700"/>
                        </a:lnSpc>
                        <a:spcBef>
                          <a:spcPts val="335"/>
                        </a:spcBef>
                        <a:tabLst>
                          <a:tab pos="967740" algn="l"/>
                          <a:tab pos="1734185" algn="l"/>
                          <a:tab pos="2067560" algn="l"/>
                          <a:tab pos="2727325" algn="l"/>
                        </a:tabLst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historial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5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gastos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combustible/carga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RF-5</a:t>
                      </a:r>
                      <a:r>
                        <a:rPr dirty="0" sz="1200" spc="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200" spc="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80820" y="899160"/>
          <a:ext cx="5659755" cy="144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90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Visualizar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3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filtrar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catálogo</a:t>
                      </a:r>
                      <a:r>
                        <a:rPr dirty="0" sz="1200" spc="-1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beneficios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20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RF-</a:t>
                      </a:r>
                      <a:r>
                        <a:rPr dirty="0" sz="1200" spc="-25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0820" y="2772410"/>
          <a:ext cx="5659755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9705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Visualizar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Dashboard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integrado</a:t>
                      </a:r>
                      <a:r>
                        <a:rPr dirty="0" sz="1100" spc="-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"Mi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Auto"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r>
                        <a:rPr dirty="0" sz="1100" spc="3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00" spc="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13 -</a:t>
                      </a:r>
                      <a:r>
                        <a:rPr dirty="0" sz="1100" spc="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7366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0820" y="4444619"/>
          <a:ext cx="5659755" cy="1447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780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Modificar</a:t>
                      </a:r>
                      <a:r>
                        <a:rPr dirty="0" sz="11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1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eliminar</a:t>
                      </a:r>
                      <a:r>
                        <a:rPr dirty="0" sz="11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registros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ingresados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7175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1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80820" y="6116701"/>
          <a:ext cx="5659755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63068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Gestionar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cuentas</a:t>
                      </a:r>
                      <a:r>
                        <a:rPr dirty="0" sz="11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usuarios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registrados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12395" marR="2491105">
                        <a:lnSpc>
                          <a:spcPct val="291800"/>
                        </a:lnSpc>
                      </a:pP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 spc="-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2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16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7175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302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70" y="6096253"/>
            <a:ext cx="7258684" cy="3962142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80820" y="899160"/>
          <a:ext cx="5659755" cy="144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90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 marR="742950">
                        <a:lnSpc>
                          <a:spcPct val="110000"/>
                        </a:lnSpc>
                        <a:spcBef>
                          <a:spcPts val="450"/>
                        </a:spcBef>
                      </a:pP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Administrar</a:t>
                      </a:r>
                      <a:r>
                        <a:rPr dirty="0" sz="11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catálogo</a:t>
                      </a:r>
                      <a:r>
                        <a:rPr dirty="0" sz="11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de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beneficios (Backoffice)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RF-</a:t>
                      </a:r>
                      <a:r>
                        <a:rPr dirty="0" sz="11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5715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93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80820" y="2784601"/>
          <a:ext cx="5659755" cy="1449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9494"/>
                <a:gridCol w="2999739"/>
                <a:gridCol w="1534795"/>
              </a:tblGrid>
              <a:tr h="14490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 b="1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CU20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Visualizar</a:t>
                      </a:r>
                      <a:r>
                        <a:rPr dirty="0" sz="11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métricas</a:t>
                      </a:r>
                      <a:r>
                        <a:rPr dirty="0" sz="11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globales</a:t>
                      </a:r>
                      <a:r>
                        <a:rPr dirty="0" sz="11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del</a:t>
                      </a:r>
                      <a:r>
                        <a:rPr dirty="0" sz="11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sistema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12395" marR="2491105">
                        <a:lnSpc>
                          <a:spcPct val="200900"/>
                        </a:lnSpc>
                        <a:spcBef>
                          <a:spcPts val="1200"/>
                        </a:spcBef>
                      </a:pPr>
                      <a:r>
                        <a:rPr dirty="0" sz="11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RF-</a:t>
                      </a:r>
                      <a:r>
                        <a:rPr dirty="0" sz="11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11 </a:t>
                      </a:r>
                      <a:r>
                        <a:rPr dirty="0" sz="1100" spc="-10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RF-</a:t>
                      </a:r>
                      <a:r>
                        <a:rPr dirty="0" sz="1100" spc="-25" b="1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660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200" spc="-20">
                          <a:solidFill>
                            <a:srgbClr val="1F1F1F"/>
                          </a:solidFill>
                          <a:latin typeface="Calibri"/>
                          <a:cs typeface="Calibri"/>
                        </a:rPr>
                        <a:t>Admin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L w="9525">
                      <a:solidFill>
                        <a:srgbClr val="C4C6C5"/>
                      </a:solidFill>
                      <a:prstDash val="solid"/>
                    </a:lnL>
                    <a:lnR w="9525">
                      <a:solidFill>
                        <a:srgbClr val="C4C6C5"/>
                      </a:solidFill>
                      <a:prstDash val="solid"/>
                    </a:lnR>
                    <a:lnT w="9525">
                      <a:solidFill>
                        <a:srgbClr val="C4C6C5"/>
                      </a:solidFill>
                      <a:prstDash val="solid"/>
                    </a:lnT>
                    <a:lnB w="9525">
                      <a:solidFill>
                        <a:srgbClr val="C4C6C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8120" y="5800725"/>
            <a:ext cx="16967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Diagrama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casos</a:t>
            </a:r>
            <a:r>
              <a:rPr dirty="0" sz="1200" spc="-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uso.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9093"/>
            <a:ext cx="5946140" cy="6309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Requerimientos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no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funcionales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200">
              <a:latin typeface="Calibri"/>
              <a:cs typeface="Calibri"/>
            </a:endParaRPr>
          </a:p>
          <a:p>
            <a:pPr marL="165100" indent="-1524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5100" algn="l"/>
              </a:tabLst>
            </a:pPr>
            <a:r>
              <a:rPr dirty="0" sz="1200" b="1">
                <a:latin typeface="Calibri"/>
                <a:cs typeface="Calibri"/>
              </a:rPr>
              <a:t>Seguridad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Privacidad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210"/>
              </a:spcBef>
            </a:pPr>
            <a:r>
              <a:rPr dirty="0" sz="1200">
                <a:latin typeface="Calibri"/>
                <a:cs typeface="Calibri"/>
              </a:rPr>
              <a:t>Dado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maneja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personales,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patentes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vehículos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gastos,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seguridad</a:t>
            </a:r>
            <a:r>
              <a:rPr dirty="0" sz="1200" spc="-25">
                <a:latin typeface="Calibri"/>
                <a:cs typeface="Calibri"/>
              </a:rPr>
              <a:t> es </a:t>
            </a:r>
            <a:r>
              <a:rPr dirty="0" sz="1200" spc="-10">
                <a:latin typeface="Calibri"/>
                <a:cs typeface="Calibri"/>
              </a:rPr>
              <a:t>crítica.</a:t>
            </a:r>
            <a:endParaRPr sz="1200">
              <a:latin typeface="Calibri"/>
              <a:cs typeface="Calibri"/>
            </a:endParaRPr>
          </a:p>
          <a:p>
            <a:pPr algn="just" lvl="1" marL="469265" marR="48260" indent="-228600">
              <a:lnSpc>
                <a:spcPct val="116700"/>
              </a:lnSpc>
              <a:spcBef>
                <a:spcPts val="1210"/>
              </a:spcBef>
              <a:buChar char="●"/>
              <a:tabLst>
                <a:tab pos="469265" algn="l"/>
                <a:tab pos="470534" algn="l"/>
              </a:tabLst>
            </a:pP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(Encriptación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datos):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contraseñas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10">
                <a:latin typeface="Calibri"/>
                <a:cs typeface="Calibri"/>
              </a:rPr>
              <a:t> almacenadas </a:t>
            </a:r>
            <a:r>
              <a:rPr dirty="0" sz="1200">
                <a:latin typeface="Calibri"/>
                <a:cs typeface="Calibri"/>
              </a:rPr>
              <a:t>utilizando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algoritmos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encriptación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ejemplo,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bcrypt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SHA-256</a:t>
            </a:r>
            <a:r>
              <a:rPr dirty="0" sz="1200" spc="-25">
                <a:latin typeface="Calibri"/>
                <a:cs typeface="Calibri"/>
              </a:rPr>
              <a:t> con </a:t>
            </a:r>
            <a:r>
              <a:rPr dirty="0" sz="1200" spc="-10">
                <a:latin typeface="Calibri"/>
                <a:cs typeface="Calibri"/>
              </a:rPr>
              <a:t>salt).</a:t>
            </a:r>
            <a:endParaRPr sz="1200">
              <a:latin typeface="Calibri"/>
              <a:cs typeface="Calibri"/>
            </a:endParaRPr>
          </a:p>
          <a:p>
            <a:pPr lvl="1" marL="469265" marR="294640" indent="-228600">
              <a:lnSpc>
                <a:spcPct val="1172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02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(Comunicación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segura):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Toda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comunicación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 </a:t>
            </a:r>
            <a:r>
              <a:rPr dirty="0" sz="1200" spc="-25">
                <a:latin typeface="Calibri"/>
                <a:cs typeface="Calibri"/>
              </a:rPr>
              <a:t>los </a:t>
            </a:r>
            <a:r>
              <a:rPr dirty="0" sz="1200">
                <a:latin typeface="Calibri"/>
                <a:cs typeface="Calibri"/>
              </a:rPr>
              <a:t>servidores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(API)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realizarse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través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canales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seguros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utilizando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protocolo </a:t>
            </a:r>
            <a:r>
              <a:rPr dirty="0" sz="1200">
                <a:latin typeface="Calibri"/>
                <a:cs typeface="Calibri"/>
              </a:rPr>
              <a:t>HTTPS/SSL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evitar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intercepción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datos.</a:t>
            </a:r>
            <a:endParaRPr sz="1200">
              <a:latin typeface="Calibri"/>
              <a:cs typeface="Calibri"/>
            </a:endParaRPr>
          </a:p>
          <a:p>
            <a:pPr lvl="1" marL="469265" marR="87630" indent="-228600">
              <a:lnSpc>
                <a:spcPct val="116700"/>
              </a:lnSpc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03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(Privacidad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datos):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cumplir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normativas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locales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>
                <a:latin typeface="Calibri"/>
                <a:cs typeface="Calibri"/>
              </a:rPr>
              <a:t>protección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personales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(ej.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19.628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Chile),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garantizando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</a:t>
            </a:r>
            <a:endParaRPr sz="1200">
              <a:latin typeface="Calibri"/>
              <a:cs typeface="Calibri"/>
            </a:endParaRPr>
          </a:p>
          <a:p>
            <a:pPr marL="469265" marR="175895">
              <a:lnSpc>
                <a:spcPct val="11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 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sus </a:t>
            </a:r>
            <a:r>
              <a:rPr dirty="0" sz="1200" spc="-10">
                <a:latin typeface="Calibri"/>
                <a:cs typeface="Calibri"/>
              </a:rPr>
              <a:t>vehículos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 sean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accesibles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terceros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autorizados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ni por </a:t>
            </a:r>
            <a:r>
              <a:rPr dirty="0" sz="1200" spc="-10">
                <a:latin typeface="Calibri"/>
                <a:cs typeface="Calibri"/>
              </a:rPr>
              <a:t>otros usuarios.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00">
              <a:latin typeface="Calibri"/>
              <a:cs typeface="Calibri"/>
            </a:endParaRPr>
          </a:p>
          <a:p>
            <a:pPr marL="165100" indent="-152400">
              <a:lnSpc>
                <a:spcPct val="100000"/>
              </a:lnSpc>
              <a:buAutoNum type="arabicPeriod" startAt="2"/>
              <a:tabLst>
                <a:tab pos="165100" algn="l"/>
              </a:tabLst>
            </a:pPr>
            <a:r>
              <a:rPr dirty="0" sz="1200" spc="-10" b="1">
                <a:latin typeface="Calibri"/>
                <a:cs typeface="Calibri"/>
              </a:rPr>
              <a:t>Rendimiento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Desempeño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dirty="0" sz="1200">
                <a:latin typeface="Calibri"/>
                <a:cs typeface="Calibri"/>
              </a:rPr>
              <a:t>Crítico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experiencia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especialmente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usar 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Artificial.</a:t>
            </a:r>
            <a:endParaRPr sz="1200">
              <a:latin typeface="Calibri"/>
              <a:cs typeface="Calibri"/>
            </a:endParaRPr>
          </a:p>
          <a:p>
            <a:pPr lvl="1" marL="469265" marR="130810" indent="-228600">
              <a:lnSpc>
                <a:spcPct val="117100"/>
              </a:lnSpc>
              <a:spcBef>
                <a:spcPts val="120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04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(Tiempo 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respuesta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IA):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procesamiento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 </a:t>
            </a:r>
            <a:r>
              <a:rPr dirty="0" sz="1200">
                <a:latin typeface="Calibri"/>
                <a:cs typeface="Calibri"/>
              </a:rPr>
              <a:t>PDF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mediante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Inteligencia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Artificial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(extracción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exceder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5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10 </a:t>
            </a:r>
            <a:r>
              <a:rPr dirty="0" sz="1200">
                <a:latin typeface="Calibri"/>
                <a:cs typeface="Calibri"/>
              </a:rPr>
              <a:t>segundos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bajo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condiciones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conexión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internet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estable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(4G/Wi-</a:t>
            </a:r>
            <a:r>
              <a:rPr dirty="0" sz="1200" spc="-20">
                <a:latin typeface="Calibri"/>
                <a:cs typeface="Calibri"/>
              </a:rPr>
              <a:t>Fi).</a:t>
            </a:r>
            <a:endParaRPr sz="1200">
              <a:latin typeface="Calibri"/>
              <a:cs typeface="Calibri"/>
            </a:endParaRPr>
          </a:p>
          <a:p>
            <a:pPr lvl="1" marL="469265" marR="64769" indent="-228600">
              <a:lnSpc>
                <a:spcPct val="116700"/>
              </a:lnSpc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05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(Tiempo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carga):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transacciones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comunes,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iniciar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sesión,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registrar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un </a:t>
            </a:r>
            <a:r>
              <a:rPr dirty="0" sz="1200">
                <a:latin typeface="Calibri"/>
                <a:cs typeface="Calibri"/>
              </a:rPr>
              <a:t>gasto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manual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cargar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resumen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historial,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procesarse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mostrarse</a:t>
            </a:r>
            <a:r>
              <a:rPr dirty="0" sz="1200" spc="-25">
                <a:latin typeface="Calibri"/>
                <a:cs typeface="Calibri"/>
              </a:rPr>
              <a:t> en</a:t>
            </a:r>
            <a:endParaRPr sz="12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Calibri"/>
                <a:cs typeface="Calibri"/>
              </a:rPr>
              <a:t>pantalla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tiempo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segundos.</a:t>
            </a:r>
            <a:endParaRPr sz="1200">
              <a:latin typeface="Calibri"/>
              <a:cs typeface="Calibri"/>
            </a:endParaRPr>
          </a:p>
          <a:p>
            <a:pPr lvl="1" marL="469265" indent="-228600">
              <a:lnSpc>
                <a:spcPct val="100000"/>
              </a:lnSpc>
              <a:spcBef>
                <a:spcPts val="24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06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(Optimización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imágenes):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fotografías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tomadas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subidas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usuario</a:t>
            </a:r>
            <a:endParaRPr sz="1200">
              <a:latin typeface="Calibri"/>
              <a:cs typeface="Calibri"/>
            </a:endParaRPr>
          </a:p>
          <a:p>
            <a:pPr marL="469265" marR="29209">
              <a:lnSpc>
                <a:spcPct val="116700"/>
              </a:lnSpc>
              <a:spcBef>
                <a:spcPts val="10"/>
              </a:spcBef>
            </a:pP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comprimidas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automáticamente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enviarse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servidor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minimizar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consumo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acelerar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envío.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7764017"/>
            <a:ext cx="5236845" cy="789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Calibri"/>
                <a:cs typeface="Calibri"/>
              </a:rPr>
              <a:t>3.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Usabilidad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Experiencia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de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Usuario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20" b="1">
                <a:latin typeface="Calibri"/>
                <a:cs typeface="Calibri"/>
              </a:rPr>
              <a:t>(UX)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16700"/>
              </a:lnSpc>
              <a:spcBef>
                <a:spcPts val="1210"/>
              </a:spcBef>
            </a:pP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aplicación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fácil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mientras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está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movimiento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vehículo estacionado.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47089"/>
            <a:ext cx="5951855" cy="6831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marR="106680" indent="-228600">
              <a:lnSpc>
                <a:spcPct val="117100"/>
              </a:lnSpc>
              <a:spcBef>
                <a:spcPts val="10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07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(Diseño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Responsivo/Adaptable):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interfaz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adaptarse </a:t>
            </a:r>
            <a:r>
              <a:rPr dirty="0" sz="1200">
                <a:latin typeface="Calibri"/>
                <a:cs typeface="Calibri"/>
              </a:rPr>
              <a:t>correctamente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diferentes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tamaños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resoluciones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pantalla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dispositivos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móviles </a:t>
            </a:r>
            <a:r>
              <a:rPr dirty="0" sz="1200">
                <a:latin typeface="Calibri"/>
                <a:cs typeface="Calibri"/>
              </a:rPr>
              <a:t>(smartphones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distintas gamas).</a:t>
            </a:r>
            <a:endParaRPr sz="1200">
              <a:latin typeface="Calibri"/>
              <a:cs typeface="Calibri"/>
            </a:endParaRPr>
          </a:p>
          <a:p>
            <a:pPr marL="469265" marR="358775" indent="-228600">
              <a:lnSpc>
                <a:spcPct val="116700"/>
              </a:lnSpc>
              <a:spcBef>
                <a:spcPts val="1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08</a:t>
            </a:r>
            <a:r>
              <a:rPr dirty="0" sz="1200" spc="-10">
                <a:latin typeface="Calibri"/>
                <a:cs typeface="Calibri"/>
              </a:rPr>
              <a:t> (Accesibilidad):</a:t>
            </a:r>
            <a:r>
              <a:rPr dirty="0" sz="1200">
                <a:latin typeface="Calibri"/>
                <a:cs typeface="Calibri"/>
              </a:rPr>
              <a:t> La interfaz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utilizar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contrastes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color </a:t>
            </a:r>
            <a:r>
              <a:rPr dirty="0" sz="1200" spc="-10">
                <a:latin typeface="Calibri"/>
                <a:cs typeface="Calibri"/>
              </a:rPr>
              <a:t>adecuados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tamaños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fuente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legibles,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permitiendo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clave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(como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fechas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 spc="-10">
                <a:latin typeface="Calibri"/>
                <a:cs typeface="Calibri"/>
              </a:rPr>
              <a:t>vencimiento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montos)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leída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rápidamente.</a:t>
            </a:r>
            <a:endParaRPr sz="1200">
              <a:latin typeface="Calibri"/>
              <a:cs typeface="Calibri"/>
            </a:endParaRPr>
          </a:p>
          <a:p>
            <a:pPr marL="469265" marR="280670" indent="-228600">
              <a:lnSpc>
                <a:spcPct val="116700"/>
              </a:lnSpc>
              <a:spcBef>
                <a:spcPts val="1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9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(Tolerancia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errores):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formularios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proporcionar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retroalimentación </a:t>
            </a:r>
            <a:r>
              <a:rPr dirty="0" sz="1200">
                <a:latin typeface="Calibri"/>
                <a:cs typeface="Calibri"/>
              </a:rPr>
              <a:t>visual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inmediata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errores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(ej.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escribir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letras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campo </a:t>
            </a:r>
            <a:r>
              <a:rPr dirty="0" sz="1200">
                <a:latin typeface="Calibri"/>
                <a:cs typeface="Calibri"/>
              </a:rPr>
              <a:t>numérico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costo)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10">
                <a:latin typeface="Calibri"/>
                <a:cs typeface="Calibri"/>
              </a:rPr>
              <a:t> servidor.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Calibri"/>
              <a:cs typeface="Calibri"/>
            </a:endParaRPr>
          </a:p>
          <a:p>
            <a:pPr marL="165100" indent="-152400">
              <a:lnSpc>
                <a:spcPct val="100000"/>
              </a:lnSpc>
              <a:buAutoNum type="arabicPeriod" startAt="4"/>
              <a:tabLst>
                <a:tab pos="165100" algn="l"/>
              </a:tabLst>
            </a:pPr>
            <a:r>
              <a:rPr dirty="0" sz="1200" spc="-10" b="1">
                <a:latin typeface="Calibri"/>
                <a:cs typeface="Calibri"/>
              </a:rPr>
              <a:t>Disponibilidad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 </a:t>
            </a:r>
            <a:r>
              <a:rPr dirty="0" sz="1200" spc="-10" b="1">
                <a:latin typeface="Calibri"/>
                <a:cs typeface="Calibri"/>
              </a:rPr>
              <a:t>Confiabilidad</a:t>
            </a:r>
            <a:endParaRPr sz="1200">
              <a:latin typeface="Calibri"/>
              <a:cs typeface="Calibri"/>
            </a:endParaRPr>
          </a:p>
          <a:p>
            <a:pPr marL="12700" marR="64769">
              <a:lnSpc>
                <a:spcPct val="116700"/>
              </a:lnSpc>
              <a:spcBef>
                <a:spcPts val="1200"/>
              </a:spcBef>
            </a:pP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conductor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puede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necesitar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10">
                <a:latin typeface="Calibri"/>
                <a:cs typeface="Calibri"/>
              </a:rPr>
              <a:t> documento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(como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SOAP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Permiso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Circulación)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en </a:t>
            </a:r>
            <a:r>
              <a:rPr dirty="0" sz="1200">
                <a:latin typeface="Calibri"/>
                <a:cs typeface="Calibri"/>
              </a:rPr>
              <a:t>cualquier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momento,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ejemplo,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control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policial.</a:t>
            </a:r>
            <a:endParaRPr sz="1200">
              <a:latin typeface="Calibri"/>
              <a:cs typeface="Calibri"/>
            </a:endParaRPr>
          </a:p>
          <a:p>
            <a:pPr lvl="1" marL="469265" marR="93345" indent="-228600">
              <a:lnSpc>
                <a:spcPct val="116700"/>
              </a:lnSpc>
              <a:spcBef>
                <a:spcPts val="121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10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(Disponibilidad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sistema):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backend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tener </a:t>
            </a:r>
            <a:r>
              <a:rPr dirty="0" sz="1200">
                <a:latin typeface="Calibri"/>
                <a:cs typeface="Calibri"/>
              </a:rPr>
              <a:t>una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disponibilidad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(uptime)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99.9%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anual.</a:t>
            </a:r>
            <a:endParaRPr sz="1200">
              <a:latin typeface="Calibri"/>
              <a:cs typeface="Calibri"/>
            </a:endParaRPr>
          </a:p>
          <a:p>
            <a:pPr lvl="1" marL="469265" indent="-228600">
              <a:lnSpc>
                <a:spcPct val="100000"/>
              </a:lnSpc>
              <a:spcBef>
                <a:spcPts val="24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11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(Respaldo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información):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realizar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copias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seguridad</a:t>
            </a:r>
            <a:endParaRPr sz="1200">
              <a:latin typeface="Calibri"/>
              <a:cs typeface="Calibri"/>
            </a:endParaRPr>
          </a:p>
          <a:p>
            <a:pPr marL="469265" marR="26034">
              <a:lnSpc>
                <a:spcPct val="11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(backups)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automáticas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diarias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prevenir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pérdida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historial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fallas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servidor.</a:t>
            </a:r>
            <a:endParaRPr sz="1200">
              <a:latin typeface="Calibri"/>
              <a:cs typeface="Calibri"/>
            </a:endParaRPr>
          </a:p>
          <a:p>
            <a:pPr lvl="1" marL="469265" marR="42545" indent="-228600">
              <a:lnSpc>
                <a:spcPct val="117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12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(Funcionamiento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offline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parcial):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(Opcional</a:t>
            </a:r>
            <a:r>
              <a:rPr dirty="0" sz="1200" spc="-10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pero</a:t>
            </a:r>
            <a:r>
              <a:rPr dirty="0" sz="1200" spc="-15" i="1">
                <a:latin typeface="Calibri"/>
                <a:cs typeface="Calibri"/>
              </a:rPr>
              <a:t> </a:t>
            </a:r>
            <a:r>
              <a:rPr dirty="0" sz="1200" i="1">
                <a:latin typeface="Calibri"/>
                <a:cs typeface="Calibri"/>
              </a:rPr>
              <a:t>recomendado)</a:t>
            </a:r>
            <a:r>
              <a:rPr dirty="0" sz="1200" spc="5" i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aplicación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visualizar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información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almacenada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caché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(como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resumen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de </a:t>
            </a:r>
            <a:r>
              <a:rPr dirty="0" sz="1200">
                <a:latin typeface="Calibri"/>
                <a:cs typeface="Calibri"/>
              </a:rPr>
              <a:t>gastos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10">
                <a:latin typeface="Calibri"/>
                <a:cs typeface="Calibri"/>
              </a:rPr>
              <a:t> vencimientos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documentos)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incluso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el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dispositivo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pierde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temporalmente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la </a:t>
            </a:r>
            <a:r>
              <a:rPr dirty="0" sz="1200">
                <a:latin typeface="Calibri"/>
                <a:cs typeface="Calibri"/>
              </a:rPr>
              <a:t>conexión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internet.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Font typeface="Calibri"/>
              <a:buChar char="●"/>
            </a:pPr>
            <a:endParaRPr sz="1200">
              <a:latin typeface="Calibri"/>
              <a:cs typeface="Calibri"/>
            </a:endParaRPr>
          </a:p>
          <a:p>
            <a:pPr marL="165100" indent="-152400">
              <a:lnSpc>
                <a:spcPct val="100000"/>
              </a:lnSpc>
              <a:buAutoNum type="arabicPeriod" startAt="5"/>
              <a:tabLst>
                <a:tab pos="165100" algn="l"/>
              </a:tabLst>
            </a:pPr>
            <a:r>
              <a:rPr dirty="0" sz="1200" spc="-10" b="1">
                <a:latin typeface="Calibri"/>
                <a:cs typeface="Calibri"/>
              </a:rPr>
              <a:t>Compatibilidad</a:t>
            </a:r>
            <a:r>
              <a:rPr dirty="0" sz="1200" spc="2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y</a:t>
            </a:r>
            <a:r>
              <a:rPr dirty="0" sz="1200" spc="1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Arquitectura</a:t>
            </a:r>
            <a:endParaRPr sz="1200">
              <a:latin typeface="Calibri"/>
              <a:cs typeface="Calibri"/>
            </a:endParaRPr>
          </a:p>
          <a:p>
            <a:pPr lvl="1" marL="469265" marR="76200" indent="-228600">
              <a:lnSpc>
                <a:spcPct val="117100"/>
              </a:lnSpc>
              <a:spcBef>
                <a:spcPts val="1195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13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(Soporte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Operativos):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aplicación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móvil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compatible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y </a:t>
            </a:r>
            <a:r>
              <a:rPr dirty="0" sz="1200">
                <a:latin typeface="Calibri"/>
                <a:cs typeface="Calibri"/>
              </a:rPr>
              <a:t>funcional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dispositivos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sistemas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operativos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Android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(versión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8.0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superior)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iOS </a:t>
            </a:r>
            <a:r>
              <a:rPr dirty="0" sz="1200">
                <a:latin typeface="Calibri"/>
                <a:cs typeface="Calibri"/>
              </a:rPr>
              <a:t>(versión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13.0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superior).</a:t>
            </a:r>
            <a:endParaRPr sz="1200">
              <a:latin typeface="Calibri"/>
              <a:cs typeface="Calibri"/>
            </a:endParaRPr>
          </a:p>
          <a:p>
            <a:pPr lvl="1" marL="469265" indent="-228600">
              <a:lnSpc>
                <a:spcPct val="100000"/>
              </a:lnSpc>
              <a:spcBef>
                <a:spcPts val="240"/>
              </a:spcBef>
              <a:buChar char="●"/>
              <a:tabLst>
                <a:tab pos="469265" algn="l"/>
              </a:tabLst>
            </a:pPr>
            <a:r>
              <a:rPr dirty="0" sz="1200" spc="-10">
                <a:latin typeface="Calibri"/>
                <a:cs typeface="Calibri"/>
              </a:rPr>
              <a:t>RNF-</a:t>
            </a:r>
            <a:r>
              <a:rPr dirty="0" sz="1200">
                <a:latin typeface="Calibri"/>
                <a:cs typeface="Calibri"/>
              </a:rPr>
              <a:t>14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(Escalabilidad):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arquitectura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servidor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y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datos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deben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capaces</a:t>
            </a:r>
            <a:endParaRPr sz="1200">
              <a:latin typeface="Calibri"/>
              <a:cs typeface="Calibri"/>
            </a:endParaRPr>
          </a:p>
          <a:p>
            <a:pPr marL="469265" marR="80645">
              <a:lnSpc>
                <a:spcPct val="116700"/>
              </a:lnSpc>
              <a:spcBef>
                <a:spcPts val="15"/>
              </a:spcBef>
            </a:pPr>
            <a:r>
              <a:rPr dirty="0" sz="1200">
                <a:latin typeface="Calibri"/>
                <a:cs typeface="Calibri"/>
              </a:rPr>
              <a:t>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soportar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crecimiento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concurrente,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permitiendo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menos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10.000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usuarios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activos simultáneos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degradación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perceptible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servicio.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2026-09-22T01:04:33Z</dcterms:created>
  <dcterms:modified xsi:type="dcterms:W3CDTF">2026-09-22T01:04:33Z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2026-09-21T00:00:00Z</vt:filetime>
  </property>
  <property fmtid="{D5CDD505-2E9C-101B-9397-08002B2CF9AE}" pid="4" name="Creator">
    <vt:lpwstr>Microsoft® Word para Microsoft 365</vt:lpwstr>
  </property>
  <property fmtid="{D5CDD505-2E9C-101B-9397-08002B2CF9AE}" pid="5" name="LastSaved">
    <vt:filetime>2026-09-22T00:00:00Z</vt:filetime>
  </property>
  <property fmtid="{D5CDD505-2E9C-101B-9397-08002B2CF9AE}" pid="6" name="Producer">
    <vt:lpwstr>Microsoft® Word para Microsoft 365</vt:lpwstr>
  </property>
</Properties>
</file>